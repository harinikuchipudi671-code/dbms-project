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handoutMasterIdLst>
    <p:handoutMasterId r:id="rId17"/>
  </p:handoutMasterIdLst>
  <p:sldIdLst>
    <p:sldId id="258" r:id="rId3"/>
    <p:sldId id="391" r:id="rId4"/>
    <p:sldId id="392" r:id="rId5"/>
    <p:sldId id="393" r:id="rId6"/>
    <p:sldId id="394" r:id="rId7"/>
    <p:sldId id="395" r:id="rId8"/>
    <p:sldId id="396" r:id="rId9"/>
    <p:sldId id="398" r:id="rId10"/>
    <p:sldId id="400" r:id="rId11"/>
    <p:sldId id="397" r:id="rId12"/>
    <p:sldId id="401" r:id="rId13"/>
    <p:sldId id="374"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95033" autoAdjust="0"/>
  </p:normalViewPr>
  <p:slideViewPr>
    <p:cSldViewPr snapToGrid="0" snapToObjects="1">
      <p:cViewPr varScale="1">
        <p:scale>
          <a:sx n="78" d="100"/>
          <a:sy n="78" d="100"/>
        </p:scale>
        <p:origin x="264" y="7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iyalayashwantraj@gmail.com" userId="cf9d1e01015602fb" providerId="LiveId" clId="{DCF7D219-DB8A-47B1-BC9A-2A0ECA15F571}"/>
    <pc:docChg chg="undo custSel modSld">
      <pc:chgData name="miriyalayashwantraj@gmail.com" userId="cf9d1e01015602fb" providerId="LiveId" clId="{DCF7D219-DB8A-47B1-BC9A-2A0ECA15F571}" dt="2026-08-20T07:05:15.429" v="331" actId="20577"/>
      <pc:docMkLst>
        <pc:docMk/>
      </pc:docMkLst>
      <pc:sldChg chg="modSp mod">
        <pc:chgData name="miriyalayashwantraj@gmail.com" userId="cf9d1e01015602fb" providerId="LiveId" clId="{DCF7D219-DB8A-47B1-BC9A-2A0ECA15F571}" dt="2026-08-20T07:05:15.429" v="331" actId="20577"/>
        <pc:sldMkLst>
          <pc:docMk/>
          <pc:sldMk cId="3362554174" sldId="258"/>
        </pc:sldMkLst>
        <pc:spChg chg="mod">
          <ac:chgData name="miriyalayashwantraj@gmail.com" userId="cf9d1e01015602fb" providerId="LiveId" clId="{DCF7D219-DB8A-47B1-BC9A-2A0ECA15F571}" dt="2026-08-20T07:05:15.429" v="331" actId="20577"/>
          <ac:spMkLst>
            <pc:docMk/>
            <pc:sldMk cId="3362554174" sldId="258"/>
            <ac:spMk id="2" creationId="{3C500A09-BF95-A121-71A4-33FFE91ACA86}"/>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20-08-2026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20-08-2026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20-08-2026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20-08-2026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20-08-2026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20-08-2026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20-08-2026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20-08-2026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20-08-2026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20-08-2026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20-08-2026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20-08-2026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20-08-2026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20-08-2026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20-08-2026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20-08-2026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20-08-2026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20-08-2026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r>
              <a:rPr lang="en-US" sz="2400" b="1" dirty="0">
                <a:solidFill>
                  <a:srgbClr val="011893"/>
                </a:solidFill>
                <a:latin typeface="+mn-lt"/>
                <a:cs typeface="Arial" panose="020B0604020202020204" pitchFamily="34" charset="0"/>
              </a:rPr>
              <a:t>	INTERVIEW PRACTICE PLATFORM WITH AI FEEDBACK</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a:t>
            </a:r>
            <a:r>
              <a:rPr lang="en-US" sz="2400" dirty="0" err="1">
                <a:solidFill>
                  <a:srgbClr val="00B050"/>
                </a:solidFill>
              </a:rPr>
              <a:t>Spandana</a:t>
            </a:r>
            <a:r>
              <a:rPr lang="en-US" sz="2400" dirty="0">
                <a:solidFill>
                  <a:srgbClr val="00B050"/>
                </a:solidFill>
              </a:rPr>
              <a:t>. S</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145674038"/>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Krish </a:t>
                      </a:r>
                      <a:r>
                        <a:rPr lang="en-US" dirty="0" err="1"/>
                        <a:t>Sureja</a:t>
                      </a:r>
                      <a:endParaRPr lang="en-US" dirty="0"/>
                    </a:p>
                  </a:txBody>
                  <a:tcPr/>
                </a:tc>
                <a:tc>
                  <a:txBody>
                    <a:bodyPr/>
                    <a:lstStyle/>
                    <a:p>
                      <a:r>
                        <a:rPr lang="en-US" dirty="0"/>
                        <a:t>2520030134</a:t>
                      </a:r>
                    </a:p>
                  </a:txBody>
                  <a:tcPr/>
                </a:tc>
                <a:extLst>
                  <a:ext uri="{0D108BD9-81ED-4DB2-BD59-A6C34878D82A}">
                    <a16:rowId xmlns:a16="http://schemas.microsoft.com/office/drawing/2014/main" val="253518174"/>
                  </a:ext>
                </a:extLst>
              </a:tr>
              <a:tr h="370840">
                <a:tc>
                  <a:txBody>
                    <a:bodyPr/>
                    <a:lstStyle/>
                    <a:p>
                      <a:r>
                        <a:rPr lang="en-US" dirty="0"/>
                        <a:t>M. Yashwant raj</a:t>
                      </a:r>
                    </a:p>
                  </a:txBody>
                  <a:tcPr/>
                </a:tc>
                <a:tc>
                  <a:txBody>
                    <a:bodyPr/>
                    <a:lstStyle/>
                    <a:p>
                      <a:r>
                        <a:rPr lang="en-US" dirty="0"/>
                        <a:t>2520030181</a:t>
                      </a:r>
                    </a:p>
                  </a:txBody>
                  <a:tcPr/>
                </a:tc>
                <a:extLst>
                  <a:ext uri="{0D108BD9-81ED-4DB2-BD59-A6C34878D82A}">
                    <a16:rowId xmlns:a16="http://schemas.microsoft.com/office/drawing/2014/main" val="2413438055"/>
                  </a:ext>
                </a:extLst>
              </a:tr>
              <a:tr h="370840">
                <a:tc>
                  <a:txBody>
                    <a:bodyPr/>
                    <a:lstStyle/>
                    <a:p>
                      <a:r>
                        <a:rPr lang="en-US" dirty="0"/>
                        <a:t>Harini Kuchipudi</a:t>
                      </a:r>
                    </a:p>
                  </a:txBody>
                  <a:tcPr/>
                </a:tc>
                <a:tc>
                  <a:txBody>
                    <a:bodyPr/>
                    <a:lstStyle/>
                    <a:p>
                      <a:r>
                        <a:rPr lang="en-US" dirty="0"/>
                        <a:t>2520030399</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2</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rmAutofit fontScale="92500" lnSpcReduction="10000"/>
          </a:bodyPr>
          <a:lstStyle/>
          <a:p>
            <a:r>
              <a:rPr lang="en-GB" dirty="0"/>
              <a:t>The </a:t>
            </a:r>
            <a:r>
              <a:rPr lang="en-GB" b="1" dirty="0"/>
              <a:t>Interview Practice Platform with AI Feedback</a:t>
            </a:r>
            <a:r>
              <a:rPr lang="en-GB" dirty="0"/>
              <a:t> is an intelligent web-based system designed to help students and job seekers improve their interview performance through realistic mock interviews and automated feedback. The platform allows users to practice role-specific interviews using video or audio, while </a:t>
            </a:r>
            <a:r>
              <a:rPr lang="en-GB" b="1" dirty="0"/>
              <a:t>WebRTC</a:t>
            </a:r>
            <a:r>
              <a:rPr lang="en-GB" dirty="0"/>
              <a:t> enables real-time interview interaction. Speech is converted into text using </a:t>
            </a:r>
            <a:r>
              <a:rPr lang="en-GB" b="1" dirty="0"/>
              <a:t>Whisper Speech-to-Text (STT)</a:t>
            </a:r>
            <a:r>
              <a:rPr lang="en-GB" dirty="0"/>
              <a:t>, and an </a:t>
            </a:r>
            <a:r>
              <a:rPr lang="en-GB" b="1" dirty="0"/>
              <a:t>LLM-based feedback engine</a:t>
            </a:r>
            <a:r>
              <a:rPr lang="en-GB" dirty="0"/>
              <a:t> evaluates the user's responses based on content, clarity, confidence, and overall communication quality. The system also provides a role-based question bank, interview recording, performance tracking, and peer mock-interview scheduling. The platform is developed using </a:t>
            </a:r>
            <a:r>
              <a:rPr lang="en-GB" b="1" dirty="0"/>
              <a:t>React.js, Node.js, MongoDB, WebRTC, Whisper STT, and LLM APIs</a:t>
            </a:r>
            <a:r>
              <a:rPr lang="en-GB" dirty="0"/>
              <a:t>, providing an integrated environment for continuous interview preparation.</a:t>
            </a:r>
            <a:endParaRPr lang="en-US" dirty="0"/>
          </a:p>
        </p:txBody>
      </p:sp>
    </p:spTree>
    <p:extLst>
      <p:ext uri="{BB962C8B-B14F-4D97-AF65-F5344CB8AC3E}">
        <p14:creationId xmlns:p14="http://schemas.microsoft.com/office/powerpoint/2010/main" val="4206421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INTRODUCTION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85000" lnSpcReduction="20000"/>
          </a:bodyPr>
          <a:lstStyle/>
          <a:p>
            <a:r>
              <a:rPr lang="en-GB" dirty="0"/>
              <a:t>Interviews are an important part of academic placements, internships, and professional recruitment. However, many students lack access to realistic interview practice and do not receive detailed feedback about their performance. Traditional preparation methods generally depend on reading questions, watching interview videos, or practicing with friends, which may not provide objective and consistent evaluation.</a:t>
            </a:r>
          </a:p>
          <a:p>
            <a:r>
              <a:rPr lang="en-GB" dirty="0"/>
              <a:t>The proposed </a:t>
            </a:r>
            <a:r>
              <a:rPr lang="en-GB" b="1" dirty="0"/>
              <a:t>Interview Practice Platform with AI Feedback</a:t>
            </a:r>
            <a:r>
              <a:rPr lang="en-GB" dirty="0"/>
              <a:t> provides a digital environment where users can conduct mock interviews based on their selected job role. The system records the interview, converts spoken responses into text, and uses artificial intelligence to </a:t>
            </a:r>
            <a:r>
              <a:rPr lang="en-GB" dirty="0" err="1"/>
              <a:t>analyze</a:t>
            </a:r>
            <a:r>
              <a:rPr lang="en-GB" dirty="0"/>
              <a:t> the responses. Users receive feedback on important aspects such as answer quality, relevance, clarity, confidence, and communication.</a:t>
            </a:r>
          </a:p>
          <a:p>
            <a:r>
              <a:rPr lang="en-GB" dirty="0"/>
              <a:t>The platform combines real-time communication, speech recognition, artificial intelligence, and progress tracking to create a personalized interview-practice experience.</a:t>
            </a:r>
          </a:p>
          <a:p>
            <a:endParaRPr lang="en-US" dirty="0"/>
          </a:p>
        </p:txBody>
      </p:sp>
    </p:spTree>
    <p:extLst>
      <p:ext uri="{BB962C8B-B14F-4D97-AF65-F5344CB8AC3E}">
        <p14:creationId xmlns:p14="http://schemas.microsoft.com/office/powerpoint/2010/main" val="2105092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fontScale="70000" lnSpcReduction="20000"/>
          </a:bodyPr>
          <a:lstStyle/>
          <a:p>
            <a:r>
              <a:rPr lang="en-GB" dirty="0"/>
              <a:t>Existing interview preparation systems mainly provide static question banks, interview tips, aptitude tests, or prerecorded interview examples. Some platforms provide mock interviews, but feedback may depend heavily on human evaluators or predefined rules.</a:t>
            </a:r>
          </a:p>
          <a:p>
            <a:r>
              <a:rPr lang="en-GB" dirty="0"/>
              <a:t>Common limitations of existing systems include:</a:t>
            </a:r>
          </a:p>
          <a:p>
            <a:pPr>
              <a:buFont typeface="Arial" panose="020B0604020202020204" pitchFamily="34" charset="0"/>
              <a:buChar char="•"/>
            </a:pPr>
            <a:r>
              <a:rPr lang="en-GB" dirty="0"/>
              <a:t>Limited personalized feedback.</a:t>
            </a:r>
          </a:p>
          <a:p>
            <a:pPr>
              <a:buFont typeface="Arial" panose="020B0604020202020204" pitchFamily="34" charset="0"/>
              <a:buChar char="•"/>
            </a:pPr>
            <a:r>
              <a:rPr lang="en-GB" dirty="0"/>
              <a:t>No real-time AI-based evaluation.</a:t>
            </a:r>
          </a:p>
          <a:p>
            <a:pPr>
              <a:buFont typeface="Arial" panose="020B0604020202020204" pitchFamily="34" charset="0"/>
              <a:buChar char="•"/>
            </a:pPr>
            <a:r>
              <a:rPr lang="en-GB" dirty="0"/>
              <a:t>Lack of detailed analysis of spoken responses.</a:t>
            </a:r>
          </a:p>
          <a:p>
            <a:pPr>
              <a:buFont typeface="Arial" panose="020B0604020202020204" pitchFamily="34" charset="0"/>
              <a:buChar char="•"/>
            </a:pPr>
            <a:r>
              <a:rPr lang="en-GB" dirty="0"/>
              <a:t>Limited role-specific interview questions.</a:t>
            </a:r>
          </a:p>
          <a:p>
            <a:pPr>
              <a:buFont typeface="Arial" panose="020B0604020202020204" pitchFamily="34" charset="0"/>
              <a:buChar char="•"/>
            </a:pPr>
            <a:r>
              <a:rPr lang="en-GB" dirty="0"/>
              <a:t>Difficulty tracking improvement over multiple practice sessions.</a:t>
            </a:r>
          </a:p>
          <a:p>
            <a:pPr>
              <a:buFont typeface="Arial" panose="020B0604020202020204" pitchFamily="34" charset="0"/>
              <a:buChar char="•"/>
            </a:pPr>
            <a:r>
              <a:rPr lang="en-GB" dirty="0"/>
              <a:t>Dependence on friends or mentors for mock interviews.</a:t>
            </a:r>
          </a:p>
          <a:p>
            <a:pPr>
              <a:buFont typeface="Arial" panose="020B0604020202020204" pitchFamily="34" charset="0"/>
              <a:buChar char="•"/>
            </a:pPr>
            <a:r>
              <a:rPr lang="en-GB" dirty="0"/>
              <a:t>Limited integration of video/audio recording and speech transcription.</a:t>
            </a:r>
          </a:p>
          <a:p>
            <a:pPr>
              <a:buFont typeface="Arial" panose="020B0604020202020204" pitchFamily="34" charset="0"/>
              <a:buChar char="•"/>
            </a:pPr>
            <a:r>
              <a:rPr lang="en-GB" dirty="0"/>
              <a:t>Lack of objective scoring for communication and answer quality.</a:t>
            </a:r>
          </a:p>
          <a:p>
            <a:r>
              <a:rPr lang="en-GB" dirty="0"/>
              <a:t>As a result, users may practice repeatedly without clearly understanding what they need to improve.</a:t>
            </a:r>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fontScale="70000" lnSpcReduction="20000"/>
          </a:bodyPr>
          <a:lstStyle/>
          <a:p>
            <a:r>
              <a:rPr lang="en-GB" sz="2900" dirty="0"/>
              <a:t>Students and job seekers often face difficulty in practicing interviews in a realistic environment. They may know the technical answers but struggle with communication, clarity, confidence, or structuring their responses.</a:t>
            </a:r>
          </a:p>
          <a:p>
            <a:r>
              <a:rPr lang="en-GB" sz="2900" dirty="0"/>
              <a:t>The major problem is the absence of an integrated platform that can:</a:t>
            </a:r>
          </a:p>
          <a:p>
            <a:pPr>
              <a:buFont typeface="+mj-lt"/>
              <a:buAutoNum type="arabicPeriod"/>
            </a:pPr>
            <a:r>
              <a:rPr lang="en-GB" sz="2900" dirty="0"/>
              <a:t>Conduct realistic role-based mock interviews.</a:t>
            </a:r>
          </a:p>
          <a:p>
            <a:pPr>
              <a:buFont typeface="+mj-lt"/>
              <a:buAutoNum type="arabicPeriod"/>
            </a:pPr>
            <a:r>
              <a:rPr lang="en-GB" sz="2900" dirty="0"/>
              <a:t>Record audio/video responses.</a:t>
            </a:r>
          </a:p>
          <a:p>
            <a:pPr>
              <a:buFont typeface="+mj-lt"/>
              <a:buAutoNum type="arabicPeriod"/>
            </a:pPr>
            <a:r>
              <a:rPr lang="en-GB" sz="2900" dirty="0"/>
              <a:t>Convert spoken answers into accurate text.</a:t>
            </a:r>
          </a:p>
          <a:p>
            <a:pPr>
              <a:buFont typeface="+mj-lt"/>
              <a:buAutoNum type="arabicPeriod"/>
            </a:pPr>
            <a:r>
              <a:rPr lang="en-GB" sz="2900" dirty="0" err="1"/>
              <a:t>Analyze</a:t>
            </a:r>
            <a:r>
              <a:rPr lang="en-GB" sz="2900" dirty="0"/>
              <a:t> answers automatically using AI.</a:t>
            </a:r>
          </a:p>
          <a:p>
            <a:pPr>
              <a:buFont typeface="+mj-lt"/>
              <a:buAutoNum type="arabicPeriod"/>
            </a:pPr>
            <a:r>
              <a:rPr lang="en-GB" sz="2900" dirty="0"/>
              <a:t>Provide meaningful feedback on content and communication.</a:t>
            </a:r>
          </a:p>
          <a:p>
            <a:pPr>
              <a:buFont typeface="+mj-lt"/>
              <a:buAutoNum type="arabicPeriod"/>
            </a:pPr>
            <a:r>
              <a:rPr lang="en-GB" sz="2900" dirty="0"/>
              <a:t>Track performance over multiple interviews.</a:t>
            </a:r>
          </a:p>
          <a:p>
            <a:pPr>
              <a:buFont typeface="+mj-lt"/>
              <a:buAutoNum type="arabicPeriod"/>
            </a:pPr>
            <a:r>
              <a:rPr lang="en-GB" sz="2900" dirty="0"/>
              <a:t>Allow users to practice with peers when required.</a:t>
            </a:r>
          </a:p>
          <a:p>
            <a:r>
              <a:rPr lang="en-GB" sz="2900" dirty="0"/>
              <a:t>Therefore, there is a need for an intelligent interview-practice platform that combines </a:t>
            </a:r>
            <a:r>
              <a:rPr lang="en-GB" sz="2900" b="1" dirty="0"/>
              <a:t>mock interviews, speech transcription, AI evaluation, performance tracking, and peer interaction</a:t>
            </a:r>
            <a:r>
              <a:rPr lang="en-GB" sz="2900" dirty="0"/>
              <a:t> in a single system.</a:t>
            </a:r>
          </a:p>
          <a:p>
            <a:endParaRPr lang="en-US" dirty="0"/>
          </a:p>
        </p:txBody>
      </p:sp>
    </p:spTree>
    <p:extLst>
      <p:ext uri="{BB962C8B-B14F-4D97-AF65-F5344CB8AC3E}">
        <p14:creationId xmlns:p14="http://schemas.microsoft.com/office/powerpoint/2010/main" val="2029224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403123" y="1533832"/>
            <a:ext cx="10950677" cy="5187643"/>
          </a:xfrm>
        </p:spPr>
        <p:txBody>
          <a:bodyPr>
            <a:normAutofit fontScale="62500" lnSpcReduction="20000"/>
          </a:bodyPr>
          <a:lstStyle/>
          <a:p>
            <a:r>
              <a:rPr lang="en-GB" dirty="0"/>
              <a:t>Our proposed solution is an </a:t>
            </a:r>
            <a:r>
              <a:rPr lang="en-GB" b="1" dirty="0"/>
              <a:t>AI-powered Interview Practice Platform</a:t>
            </a:r>
            <a:r>
              <a:rPr lang="en-GB" dirty="0"/>
              <a:t> that provides users with an interactive environment for interview preparation.</a:t>
            </a:r>
          </a:p>
          <a:p>
            <a:r>
              <a:rPr lang="en-GB" dirty="0"/>
              <a:t>The system first allows the user to select a job role or interview category. Based on the selected role, questions are obtained from the role-based question bank. The user can participate in a mock interview through video or audio using </a:t>
            </a:r>
            <a:r>
              <a:rPr lang="en-GB" b="1" dirty="0"/>
              <a:t>WebRTC</a:t>
            </a:r>
            <a:r>
              <a:rPr lang="en-GB" dirty="0"/>
              <a:t>.</a:t>
            </a:r>
          </a:p>
          <a:p>
            <a:r>
              <a:rPr lang="en-GB" dirty="0"/>
              <a:t>During the interview, the user's speech is captured and converted into text using </a:t>
            </a:r>
            <a:r>
              <a:rPr lang="en-GB" b="1" dirty="0"/>
              <a:t>Whisper STT</a:t>
            </a:r>
            <a:r>
              <a:rPr lang="en-GB" dirty="0"/>
              <a:t>. The transcribed response is then processed by an </a:t>
            </a:r>
            <a:r>
              <a:rPr lang="en-GB" b="1" dirty="0"/>
              <a:t>LLM-based AI feedback engine</a:t>
            </a:r>
            <a:r>
              <a:rPr lang="en-GB" dirty="0"/>
              <a:t>. The AI evaluates the response based on parameters such as:</a:t>
            </a:r>
          </a:p>
          <a:p>
            <a:pPr>
              <a:buFont typeface="Arial" panose="020B0604020202020204" pitchFamily="34" charset="0"/>
              <a:buChar char="•"/>
            </a:pPr>
            <a:r>
              <a:rPr lang="en-GB" dirty="0"/>
              <a:t>Content relevance</a:t>
            </a:r>
          </a:p>
          <a:p>
            <a:pPr>
              <a:buFont typeface="Arial" panose="020B0604020202020204" pitchFamily="34" charset="0"/>
              <a:buChar char="•"/>
            </a:pPr>
            <a:r>
              <a:rPr lang="en-GB" dirty="0"/>
              <a:t>Answer completeness</a:t>
            </a:r>
          </a:p>
          <a:p>
            <a:pPr>
              <a:buFont typeface="Arial" panose="020B0604020202020204" pitchFamily="34" charset="0"/>
              <a:buChar char="•"/>
            </a:pPr>
            <a:r>
              <a:rPr lang="en-GB" dirty="0"/>
              <a:t>Clarity</a:t>
            </a:r>
          </a:p>
          <a:p>
            <a:pPr>
              <a:buFont typeface="Arial" panose="020B0604020202020204" pitchFamily="34" charset="0"/>
              <a:buChar char="•"/>
            </a:pPr>
            <a:r>
              <a:rPr lang="en-GB" dirty="0"/>
              <a:t>Communication quality</a:t>
            </a:r>
          </a:p>
          <a:p>
            <a:pPr>
              <a:buFont typeface="Arial" panose="020B0604020202020204" pitchFamily="34" charset="0"/>
              <a:buChar char="•"/>
            </a:pPr>
            <a:r>
              <a:rPr lang="en-GB" dirty="0"/>
              <a:t>Confidence</a:t>
            </a:r>
          </a:p>
          <a:p>
            <a:pPr>
              <a:buFont typeface="Arial" panose="020B0604020202020204" pitchFamily="34" charset="0"/>
              <a:buChar char="•"/>
            </a:pPr>
            <a:r>
              <a:rPr lang="en-GB" dirty="0"/>
              <a:t>Structure of the response</a:t>
            </a:r>
          </a:p>
          <a:p>
            <a:pPr>
              <a:buFont typeface="Arial" panose="020B0604020202020204" pitchFamily="34" charset="0"/>
              <a:buChar char="•"/>
            </a:pPr>
            <a:r>
              <a:rPr lang="en-GB" dirty="0"/>
              <a:t>Overall interview performance</a:t>
            </a:r>
          </a:p>
          <a:p>
            <a:r>
              <a:rPr lang="en-GB" dirty="0"/>
              <a:t>The system generates a score and provides suggestions for improvement. Interview recordings and results can be stored so that users can compare their performance across different sessions.</a:t>
            </a:r>
          </a:p>
          <a:p>
            <a:r>
              <a:rPr lang="en-GB" dirty="0"/>
              <a:t>The platform also includes </a:t>
            </a:r>
            <a:r>
              <a:rPr lang="en-GB" b="1" dirty="0"/>
              <a:t>peer mock-interview scheduling</a:t>
            </a:r>
            <a:r>
              <a:rPr lang="en-GB" dirty="0"/>
              <a:t>, allowing users to practice interviews with other participants. A progress tracker helps users identify their strengths, weaknesses, and improvement over time.</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fontScale="62500" lnSpcReduction="20000"/>
          </a:bodyPr>
          <a:lstStyle/>
          <a:p>
            <a:pPr marL="0" indent="0">
              <a:buNone/>
            </a:pPr>
            <a:r>
              <a:rPr lang="en-GB" dirty="0"/>
              <a:t>The main objectives of the proposed system are:</a:t>
            </a:r>
          </a:p>
          <a:p>
            <a:pPr>
              <a:buFont typeface="+mj-lt"/>
              <a:buAutoNum type="arabicPeriod"/>
            </a:pPr>
            <a:r>
              <a:rPr lang="en-GB" dirty="0"/>
              <a:t>To provide an accessible platform for realistic mock interview practice.</a:t>
            </a:r>
          </a:p>
          <a:p>
            <a:pPr>
              <a:buFont typeface="+mj-lt"/>
              <a:buAutoNum type="arabicPeriod"/>
            </a:pPr>
            <a:r>
              <a:rPr lang="en-GB" dirty="0"/>
              <a:t>To generate role-specific interview questions.</a:t>
            </a:r>
          </a:p>
          <a:p>
            <a:pPr>
              <a:buFont typeface="+mj-lt"/>
              <a:buAutoNum type="arabicPeriod"/>
            </a:pPr>
            <a:r>
              <a:rPr lang="en-GB" dirty="0"/>
              <a:t>To enable real-time audio/video interview interaction using WebRTC.</a:t>
            </a:r>
          </a:p>
          <a:p>
            <a:pPr>
              <a:buFont typeface="+mj-lt"/>
              <a:buAutoNum type="arabicPeriod"/>
            </a:pPr>
            <a:r>
              <a:rPr lang="en-GB" dirty="0"/>
              <a:t>To record interview sessions for later review.</a:t>
            </a:r>
          </a:p>
          <a:p>
            <a:pPr>
              <a:buFont typeface="+mj-lt"/>
              <a:buAutoNum type="arabicPeriod"/>
            </a:pPr>
            <a:r>
              <a:rPr lang="en-GB" dirty="0"/>
              <a:t>To convert spoken interview responses into text using Whisper STT.</a:t>
            </a:r>
          </a:p>
          <a:p>
            <a:pPr>
              <a:buFont typeface="+mj-lt"/>
              <a:buAutoNum type="arabicPeriod"/>
            </a:pPr>
            <a:r>
              <a:rPr lang="en-GB" dirty="0"/>
              <a:t>To use LLM technology for automated interview evaluation.</a:t>
            </a:r>
          </a:p>
          <a:p>
            <a:pPr>
              <a:buFont typeface="+mj-lt"/>
              <a:buAutoNum type="arabicPeriod"/>
            </a:pPr>
            <a:r>
              <a:rPr lang="en-GB" dirty="0"/>
              <a:t>To evaluate responses based on content, clarity, confidence, and communication.</a:t>
            </a:r>
          </a:p>
          <a:p>
            <a:pPr>
              <a:buFont typeface="+mj-lt"/>
              <a:buAutoNum type="arabicPeriod"/>
            </a:pPr>
            <a:r>
              <a:rPr lang="en-GB" dirty="0"/>
              <a:t>To provide personalized feedback and improvement suggestions.</a:t>
            </a:r>
          </a:p>
          <a:p>
            <a:pPr>
              <a:buFont typeface="+mj-lt"/>
              <a:buAutoNum type="arabicPeriod"/>
            </a:pPr>
            <a:r>
              <a:rPr lang="en-GB" dirty="0"/>
              <a:t>To maintain interview history and track user progress.</a:t>
            </a:r>
          </a:p>
          <a:p>
            <a:pPr>
              <a:buFont typeface="+mj-lt"/>
              <a:buAutoNum type="arabicPeriod"/>
            </a:pPr>
            <a:r>
              <a:rPr lang="en-GB" dirty="0"/>
              <a:t>To enable peer-to-peer mock interview scheduling.</a:t>
            </a:r>
          </a:p>
          <a:p>
            <a:pPr>
              <a:buFont typeface="+mj-lt"/>
              <a:buAutoNum type="arabicPeriod"/>
            </a:pPr>
            <a:r>
              <a:rPr lang="en-GB" dirty="0"/>
              <a:t>To reduce dependency on human interviewers for basic practice sessions.</a:t>
            </a:r>
          </a:p>
          <a:p>
            <a:pPr>
              <a:buFont typeface="+mj-lt"/>
              <a:buAutoNum type="arabicPeriod"/>
            </a:pPr>
            <a:r>
              <a:rPr lang="en-GB" dirty="0"/>
              <a:t>To help users continuously improve their interview performance.</a:t>
            </a:r>
          </a:p>
          <a:p>
            <a:endParaRPr lang="en-US" dirty="0"/>
          </a:p>
        </p:txBody>
      </p:sp>
    </p:spTree>
    <p:extLst>
      <p:ext uri="{BB962C8B-B14F-4D97-AF65-F5344CB8AC3E}">
        <p14:creationId xmlns:p14="http://schemas.microsoft.com/office/powerpoint/2010/main" val="2402079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lstStyle/>
          <a:p>
            <a:r>
              <a:rPr lang="en-IN" dirty="0"/>
              <a:t>1. User Authentication Module</a:t>
            </a:r>
          </a:p>
          <a:p>
            <a:r>
              <a:rPr lang="en-IN" dirty="0"/>
              <a:t>2. Role-Based Question Bank</a:t>
            </a:r>
          </a:p>
          <a:p>
            <a:r>
              <a:rPr lang="en-IN" dirty="0"/>
              <a:t>3. Mock Interview Module</a:t>
            </a:r>
          </a:p>
          <a:p>
            <a:r>
              <a:rPr lang="en-GB" dirty="0"/>
              <a:t>4. Video/Audio Recording Module</a:t>
            </a:r>
            <a:endParaRPr lang="en-IN" dirty="0"/>
          </a:p>
          <a:p>
            <a:r>
              <a:rPr lang="en-IN" dirty="0"/>
              <a:t>5. Real-Time Communication Module</a:t>
            </a:r>
          </a:p>
          <a:p>
            <a:r>
              <a:rPr lang="en-IN" dirty="0"/>
              <a:t>6. Speech Transcription Module</a:t>
            </a:r>
          </a:p>
          <a:p>
            <a:r>
              <a:rPr lang="en-GB" dirty="0"/>
              <a:t>7. AI Feedback and Scoring Module</a:t>
            </a:r>
            <a:endParaRPr lang="en-IN" dirty="0"/>
          </a:p>
          <a:p>
            <a:r>
              <a:rPr lang="en-IN" dirty="0"/>
              <a:t>8. Progress Tracker</a:t>
            </a:r>
            <a:endParaRPr lang="en-US" dirty="0"/>
          </a:p>
        </p:txBody>
      </p:sp>
    </p:spTree>
    <p:extLst>
      <p:ext uri="{BB962C8B-B14F-4D97-AF65-F5344CB8AC3E}">
        <p14:creationId xmlns:p14="http://schemas.microsoft.com/office/powerpoint/2010/main" val="1063077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1F55A-4A64-BBFA-20D0-41684EF42D67}"/>
              </a:ext>
            </a:extLst>
          </p:cNvPr>
          <p:cNvSpPr>
            <a:spLocks noGrp="1"/>
          </p:cNvSpPr>
          <p:nvPr>
            <p:ph type="title"/>
          </p:nvPr>
        </p:nvSpPr>
        <p:spPr>
          <a:xfrm>
            <a:off x="838200" y="-294968"/>
            <a:ext cx="10515600" cy="216310"/>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38B1D931-EEFC-4A32-2C58-AA39ECC037C6}"/>
              </a:ext>
            </a:extLst>
          </p:cNvPr>
          <p:cNvSpPr>
            <a:spLocks noGrp="1"/>
          </p:cNvSpPr>
          <p:nvPr>
            <p:ph idx="1"/>
          </p:nvPr>
        </p:nvSpPr>
        <p:spPr>
          <a:xfrm>
            <a:off x="749709" y="999716"/>
            <a:ext cx="10515600" cy="4351338"/>
          </a:xfrm>
        </p:spPr>
        <p:txBody>
          <a:bodyPr/>
          <a:lstStyle/>
          <a:p>
            <a:r>
              <a:rPr lang="en-GB" dirty="0"/>
              <a:t>9. Peer Mock Scheduling Module</a:t>
            </a:r>
          </a:p>
          <a:p>
            <a:r>
              <a:rPr lang="en-IN" dirty="0"/>
              <a:t>10. Interview History Module</a:t>
            </a:r>
          </a:p>
        </p:txBody>
      </p:sp>
      <p:sp>
        <p:nvSpPr>
          <p:cNvPr id="4" name="Date Placeholder 3">
            <a:extLst>
              <a:ext uri="{FF2B5EF4-FFF2-40B4-BE49-F238E27FC236}">
                <a16:creationId xmlns:a16="http://schemas.microsoft.com/office/drawing/2014/main" id="{860F5AE6-08D0-89D1-76DA-2518E5CE84F3}"/>
              </a:ext>
            </a:extLst>
          </p:cNvPr>
          <p:cNvSpPr>
            <a:spLocks noGrp="1"/>
          </p:cNvSpPr>
          <p:nvPr>
            <p:ph type="dt" sz="half" idx="10"/>
          </p:nvPr>
        </p:nvSpPr>
        <p:spPr/>
        <p:txBody>
          <a:bodyPr/>
          <a:lstStyle/>
          <a:p>
            <a:fld id="{3C447009-55DF-4EA5-900B-29AFB7C8438A}" type="datetime1">
              <a:rPr lang="en-IN" smtClean="0"/>
              <a:t>20-08-2026</a:t>
            </a:fld>
            <a:endParaRPr lang="en-US"/>
          </a:p>
        </p:txBody>
      </p:sp>
      <p:sp>
        <p:nvSpPr>
          <p:cNvPr id="5" name="Footer Placeholder 4">
            <a:extLst>
              <a:ext uri="{FF2B5EF4-FFF2-40B4-BE49-F238E27FC236}">
                <a16:creationId xmlns:a16="http://schemas.microsoft.com/office/drawing/2014/main" id="{53390F2C-D1B3-A547-C863-2096E1F82F9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06C927-7CE1-AF5B-6EFF-DEC2870D23CE}"/>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344193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normAutofit fontScale="62500" lnSpcReduction="20000"/>
          </a:bodyPr>
          <a:lstStyle/>
          <a:p>
            <a:pPr marL="0" indent="0">
              <a:buNone/>
            </a:pPr>
            <a:r>
              <a:rPr lang="en-IN" b="1" dirty="0"/>
              <a:t>Frontend</a:t>
            </a:r>
          </a:p>
          <a:p>
            <a:pPr>
              <a:buFont typeface="Arial" panose="020B0604020202020204" pitchFamily="34" charset="0"/>
              <a:buChar char="•"/>
            </a:pPr>
            <a:r>
              <a:rPr lang="en-IN" b="1" dirty="0"/>
              <a:t>React.js</a:t>
            </a:r>
            <a:endParaRPr lang="en-IN" dirty="0"/>
          </a:p>
          <a:p>
            <a:pPr>
              <a:buFont typeface="Arial" panose="020B0604020202020204" pitchFamily="34" charset="0"/>
              <a:buChar char="•"/>
            </a:pPr>
            <a:r>
              <a:rPr lang="en-IN" dirty="0"/>
              <a:t>HTML5</a:t>
            </a:r>
          </a:p>
          <a:p>
            <a:pPr>
              <a:buFont typeface="Arial" panose="020B0604020202020204" pitchFamily="34" charset="0"/>
              <a:buChar char="•"/>
            </a:pPr>
            <a:r>
              <a:rPr lang="en-IN" dirty="0"/>
              <a:t>CSS3</a:t>
            </a:r>
          </a:p>
          <a:p>
            <a:pPr>
              <a:buFont typeface="Arial" panose="020B0604020202020204" pitchFamily="34" charset="0"/>
              <a:buChar char="•"/>
            </a:pPr>
            <a:r>
              <a:rPr lang="en-IN" dirty="0"/>
              <a:t>JavaScript</a:t>
            </a:r>
          </a:p>
          <a:p>
            <a:pPr>
              <a:buFont typeface="Arial" panose="020B0604020202020204" pitchFamily="34" charset="0"/>
              <a:buChar char="•"/>
            </a:pPr>
            <a:r>
              <a:rPr lang="en-IN" dirty="0"/>
              <a:t>WebRTC APIs</a:t>
            </a:r>
          </a:p>
          <a:p>
            <a:r>
              <a:rPr lang="en-IN" dirty="0"/>
              <a:t>React.js is used to create the interactive user interface and manage different components of the platform.</a:t>
            </a:r>
          </a:p>
          <a:p>
            <a:endParaRPr lang="en-IN" dirty="0"/>
          </a:p>
          <a:p>
            <a:pPr marL="0" indent="0">
              <a:buNone/>
            </a:pPr>
            <a:r>
              <a:rPr lang="en-IN" b="1" dirty="0"/>
              <a:t>Backend</a:t>
            </a:r>
          </a:p>
          <a:p>
            <a:pPr>
              <a:buFont typeface="Arial" panose="020B0604020202020204" pitchFamily="34" charset="0"/>
              <a:buChar char="•"/>
            </a:pPr>
            <a:r>
              <a:rPr lang="en-IN" b="1" dirty="0"/>
              <a:t>Node.js</a:t>
            </a:r>
            <a:endParaRPr lang="en-IN" dirty="0"/>
          </a:p>
          <a:p>
            <a:pPr>
              <a:buFont typeface="Arial" panose="020B0604020202020204" pitchFamily="34" charset="0"/>
              <a:buChar char="•"/>
            </a:pPr>
            <a:r>
              <a:rPr lang="en-IN" dirty="0"/>
              <a:t>REST APIs</a:t>
            </a:r>
          </a:p>
          <a:p>
            <a:pPr>
              <a:buFont typeface="Arial" panose="020B0604020202020204" pitchFamily="34" charset="0"/>
              <a:buChar char="•"/>
            </a:pPr>
            <a:r>
              <a:rPr lang="en-IN" dirty="0"/>
              <a:t>Express.js</a:t>
            </a:r>
          </a:p>
          <a:p>
            <a:r>
              <a:rPr lang="en-IN" dirty="0"/>
              <a:t>Node.js handles server-side operations, user requests, interview sessions, AI API integration, and communication between the frontend and backend.</a:t>
            </a:r>
          </a:p>
          <a:p>
            <a:endParaRPr lang="en-US"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CC70A-CF81-51A0-BE79-6F3ED87AE626}"/>
              </a:ext>
            </a:extLst>
          </p:cNvPr>
          <p:cNvSpPr>
            <a:spLocks noGrp="1"/>
          </p:cNvSpPr>
          <p:nvPr>
            <p:ph type="title"/>
          </p:nvPr>
        </p:nvSpPr>
        <p:spPr>
          <a:xfrm flipH="1">
            <a:off x="-727587" y="365125"/>
            <a:ext cx="167149" cy="1325563"/>
          </a:xfrm>
        </p:spPr>
        <p:txBody>
          <a:bodyPr/>
          <a:lstStyle/>
          <a:p>
            <a:endParaRPr lang="en-IN" dirty="0"/>
          </a:p>
        </p:txBody>
      </p:sp>
      <p:sp>
        <p:nvSpPr>
          <p:cNvPr id="3" name="Content Placeholder 2">
            <a:extLst>
              <a:ext uri="{FF2B5EF4-FFF2-40B4-BE49-F238E27FC236}">
                <a16:creationId xmlns:a16="http://schemas.microsoft.com/office/drawing/2014/main" id="{AEB9257A-DF89-2B88-363C-9DABBC1A932D}"/>
              </a:ext>
            </a:extLst>
          </p:cNvPr>
          <p:cNvSpPr>
            <a:spLocks noGrp="1"/>
          </p:cNvSpPr>
          <p:nvPr>
            <p:ph idx="1"/>
          </p:nvPr>
        </p:nvSpPr>
        <p:spPr>
          <a:xfrm>
            <a:off x="235974" y="842400"/>
            <a:ext cx="11117826" cy="5784542"/>
          </a:xfrm>
        </p:spPr>
        <p:txBody>
          <a:bodyPr>
            <a:normAutofit fontScale="70000" lnSpcReduction="20000"/>
          </a:bodyPr>
          <a:lstStyle/>
          <a:p>
            <a:pPr marL="0" indent="0">
              <a:buNone/>
            </a:pPr>
            <a:r>
              <a:rPr lang="en-IN" b="1" dirty="0"/>
              <a:t>Database</a:t>
            </a:r>
          </a:p>
          <a:p>
            <a:pPr>
              <a:buFont typeface="Arial" panose="020B0604020202020204" pitchFamily="34" charset="0"/>
              <a:buChar char="•"/>
            </a:pPr>
            <a:r>
              <a:rPr lang="en-IN" b="1" dirty="0"/>
              <a:t>MongoDB</a:t>
            </a:r>
            <a:endParaRPr lang="en-IN" dirty="0"/>
          </a:p>
          <a:p>
            <a:r>
              <a:rPr lang="en-IN" dirty="0"/>
              <a:t>MongoDB is used to store user profiles, question-bank data, interview records, transcripts, scores, feedback, and progress information.</a:t>
            </a:r>
          </a:p>
          <a:p>
            <a:endParaRPr lang="en-IN" dirty="0"/>
          </a:p>
          <a:p>
            <a:pPr marL="0" indent="0">
              <a:buNone/>
            </a:pPr>
            <a:r>
              <a:rPr lang="en-IN" b="1" dirty="0"/>
              <a:t>AI and Speech Technologies</a:t>
            </a:r>
          </a:p>
          <a:p>
            <a:pPr>
              <a:buFont typeface="Arial" panose="020B0604020202020204" pitchFamily="34" charset="0"/>
              <a:buChar char="•"/>
            </a:pPr>
            <a:r>
              <a:rPr lang="en-IN" b="1" dirty="0"/>
              <a:t>Whisper Speech-to-Text (STT)</a:t>
            </a:r>
            <a:r>
              <a:rPr lang="en-IN" dirty="0"/>
              <a:t> for converting speech into text.</a:t>
            </a:r>
          </a:p>
          <a:p>
            <a:pPr>
              <a:buFont typeface="Arial" panose="020B0604020202020204" pitchFamily="34" charset="0"/>
              <a:buChar char="•"/>
            </a:pPr>
            <a:r>
              <a:rPr lang="en-IN" b="1" dirty="0"/>
              <a:t>LLM API</a:t>
            </a:r>
            <a:r>
              <a:rPr lang="en-IN" dirty="0"/>
              <a:t> for evaluating interview responses and generating personalized feedback.</a:t>
            </a:r>
          </a:p>
          <a:p>
            <a:pPr>
              <a:buFont typeface="Arial" panose="020B0604020202020204" pitchFamily="34" charset="0"/>
              <a:buChar char="•"/>
            </a:pPr>
            <a:endParaRPr lang="en-IN" dirty="0"/>
          </a:p>
          <a:p>
            <a:pPr marL="0" indent="0">
              <a:buNone/>
            </a:pPr>
            <a:r>
              <a:rPr lang="en-GB" b="1" dirty="0"/>
              <a:t>Communication Technology</a:t>
            </a:r>
          </a:p>
          <a:p>
            <a:pPr>
              <a:buFont typeface="Arial" panose="020B0604020202020204" pitchFamily="34" charset="0"/>
              <a:buChar char="•"/>
            </a:pPr>
            <a:r>
              <a:rPr lang="en-GB" b="1" dirty="0"/>
              <a:t>WebRTC</a:t>
            </a:r>
            <a:r>
              <a:rPr lang="en-GB" dirty="0"/>
              <a:t> for real-time audio and video communication during mock interviews and peer interviews.</a:t>
            </a:r>
          </a:p>
          <a:p>
            <a:pPr>
              <a:buFont typeface="Arial" panose="020B0604020202020204" pitchFamily="34" charset="0"/>
              <a:buChar char="•"/>
            </a:pPr>
            <a:endParaRPr lang="en-IN" dirty="0"/>
          </a:p>
          <a:p>
            <a:r>
              <a:rPr lang="en-IN" b="1" dirty="0"/>
              <a:t>Development Tools</a:t>
            </a:r>
          </a:p>
          <a:p>
            <a:pPr>
              <a:buFont typeface="Arial" panose="020B0604020202020204" pitchFamily="34" charset="0"/>
              <a:buChar char="•"/>
            </a:pPr>
            <a:r>
              <a:rPr lang="en-IN" dirty="0"/>
              <a:t>Visual Studio Code</a:t>
            </a:r>
          </a:p>
          <a:p>
            <a:pPr>
              <a:buFont typeface="Arial" panose="020B0604020202020204" pitchFamily="34" charset="0"/>
              <a:buChar char="•"/>
            </a:pPr>
            <a:r>
              <a:rPr lang="en-IN" dirty="0"/>
              <a:t>Git/GitHub</a:t>
            </a:r>
          </a:p>
          <a:p>
            <a:pPr>
              <a:buFont typeface="Arial" panose="020B0604020202020204" pitchFamily="34" charset="0"/>
              <a:buChar char="•"/>
            </a:pPr>
            <a:r>
              <a:rPr lang="en-IN" dirty="0"/>
              <a:t>Web Browser</a:t>
            </a:r>
          </a:p>
          <a:p>
            <a:pPr>
              <a:buFont typeface="Arial" panose="020B0604020202020204" pitchFamily="34" charset="0"/>
              <a:buChar char="•"/>
            </a:pPr>
            <a:r>
              <a:rPr lang="en-IN" dirty="0"/>
              <a:t>Node Package Manager (</a:t>
            </a:r>
            <a:r>
              <a:rPr lang="en-IN" dirty="0" err="1"/>
              <a:t>npm</a:t>
            </a:r>
            <a:r>
              <a:rPr lang="en-IN" dirty="0"/>
              <a:t>)</a:t>
            </a:r>
          </a:p>
          <a:p>
            <a:pPr>
              <a:buFont typeface="Arial" panose="020B0604020202020204" pitchFamily="34" charset="0"/>
              <a:buChar char="•"/>
            </a:pPr>
            <a:endParaRPr lang="en-IN" dirty="0"/>
          </a:p>
          <a:p>
            <a:endParaRPr lang="en-IN" dirty="0"/>
          </a:p>
        </p:txBody>
      </p:sp>
      <p:sp>
        <p:nvSpPr>
          <p:cNvPr id="4" name="Date Placeholder 3">
            <a:extLst>
              <a:ext uri="{FF2B5EF4-FFF2-40B4-BE49-F238E27FC236}">
                <a16:creationId xmlns:a16="http://schemas.microsoft.com/office/drawing/2014/main" id="{EBDF6064-447E-6D23-5FFB-ECFEA3A48A49}"/>
              </a:ext>
            </a:extLst>
          </p:cNvPr>
          <p:cNvSpPr>
            <a:spLocks noGrp="1"/>
          </p:cNvSpPr>
          <p:nvPr>
            <p:ph type="dt" sz="half" idx="10"/>
          </p:nvPr>
        </p:nvSpPr>
        <p:spPr/>
        <p:txBody>
          <a:bodyPr/>
          <a:lstStyle/>
          <a:p>
            <a:fld id="{3C447009-55DF-4EA5-900B-29AFB7C8438A}" type="datetime1">
              <a:rPr lang="en-IN" smtClean="0"/>
              <a:t>20-08-2026</a:t>
            </a:fld>
            <a:endParaRPr lang="en-US"/>
          </a:p>
        </p:txBody>
      </p:sp>
      <p:sp>
        <p:nvSpPr>
          <p:cNvPr id="5" name="Footer Placeholder 4">
            <a:extLst>
              <a:ext uri="{FF2B5EF4-FFF2-40B4-BE49-F238E27FC236}">
                <a16:creationId xmlns:a16="http://schemas.microsoft.com/office/drawing/2014/main" id="{4C3CC6D4-EC43-1683-2D0F-EB8EA96C6B8B}"/>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26BDE-F772-45F0-40CA-B43C1F686348}"/>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2648609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12</a:t>
            </a:fld>
            <a:endParaRPr lang="en-US" dirty="0"/>
          </a:p>
        </p:txBody>
      </p:sp>
      <p:sp>
        <p:nvSpPr>
          <p:cNvPr id="4" name="TextBox 3">
            <a:extLst>
              <a:ext uri="{FF2B5EF4-FFF2-40B4-BE49-F238E27FC236}">
                <a16:creationId xmlns:a16="http://schemas.microsoft.com/office/drawing/2014/main" id="{E2DB3B61-6602-2162-4840-92AAF84CA9F7}"/>
              </a:ext>
            </a:extLst>
          </p:cNvPr>
          <p:cNvSpPr txBox="1"/>
          <p:nvPr/>
        </p:nvSpPr>
        <p:spPr>
          <a:xfrm>
            <a:off x="314632" y="1327355"/>
            <a:ext cx="11710220" cy="1200329"/>
          </a:xfrm>
          <a:prstGeom prst="rect">
            <a:avLst/>
          </a:prstGeom>
          <a:noFill/>
        </p:spPr>
        <p:txBody>
          <a:bodyPr wrap="square">
            <a:spAutoFit/>
          </a:bodyPr>
          <a:lstStyle/>
          <a:p>
            <a:r>
              <a:rPr lang="en-GB" dirty="0"/>
              <a:t>The </a:t>
            </a:r>
            <a:r>
              <a:rPr lang="en-GB" b="1" dirty="0"/>
              <a:t>Interview Practice Platform with AI Feedback</a:t>
            </a:r>
            <a:r>
              <a:rPr lang="en-GB" dirty="0"/>
              <a:t> provides an integrated solution for improving interview skills through realistic mock interviews, speech transcription, AI-based evaluation, and performance tracking. By combining </a:t>
            </a:r>
            <a:r>
              <a:rPr lang="en-GB" b="1" dirty="0"/>
              <a:t>React.js, Node.js, MongoDB, WebRTC, Whisper STT, and LLM APIs</a:t>
            </a:r>
            <a:r>
              <a:rPr lang="en-GB" dirty="0"/>
              <a:t>, the system can provide users with immediate and personalized feedback without requiring a human evaluator for every practice session.</a:t>
            </a:r>
            <a:endParaRPr lang="en-IN" dirty="0"/>
          </a:p>
        </p:txBody>
      </p:sp>
      <p:sp>
        <p:nvSpPr>
          <p:cNvPr id="6" name="TextBox 5">
            <a:extLst>
              <a:ext uri="{FF2B5EF4-FFF2-40B4-BE49-F238E27FC236}">
                <a16:creationId xmlns:a16="http://schemas.microsoft.com/office/drawing/2014/main" id="{3F86EDCB-5CF6-DDD2-B0BF-005ED233D2DB}"/>
              </a:ext>
            </a:extLst>
          </p:cNvPr>
          <p:cNvSpPr txBox="1"/>
          <p:nvPr/>
        </p:nvSpPr>
        <p:spPr>
          <a:xfrm>
            <a:off x="137652" y="2766406"/>
            <a:ext cx="12398477" cy="3139321"/>
          </a:xfrm>
          <a:prstGeom prst="rect">
            <a:avLst/>
          </a:prstGeom>
          <a:noFill/>
        </p:spPr>
        <p:txBody>
          <a:bodyPr wrap="square">
            <a:spAutoFit/>
          </a:bodyPr>
          <a:lstStyle/>
          <a:p>
            <a:r>
              <a:rPr lang="en-GB" b="1" dirty="0"/>
              <a:t>FUTURE SCOPE</a:t>
            </a:r>
          </a:p>
          <a:p>
            <a:pPr>
              <a:buFont typeface="Arial" panose="020B0604020202020204" pitchFamily="34" charset="0"/>
              <a:buChar char="•"/>
            </a:pPr>
            <a:r>
              <a:rPr lang="en-GB" dirty="0"/>
              <a:t>Resume-Based Personalized Interviews </a:t>
            </a:r>
          </a:p>
          <a:p>
            <a:pPr>
              <a:buFont typeface="Arial" panose="020B0604020202020204" pitchFamily="34" charset="0"/>
              <a:buChar char="•"/>
            </a:pPr>
            <a:r>
              <a:rPr lang="en-GB" dirty="0"/>
              <a:t>Adaptive AI Follow-Up Questions </a:t>
            </a:r>
          </a:p>
          <a:p>
            <a:pPr>
              <a:buFont typeface="Arial" panose="020B0604020202020204" pitchFamily="34" charset="0"/>
              <a:buChar char="•"/>
            </a:pPr>
            <a:r>
              <a:rPr lang="en-GB" dirty="0"/>
              <a:t>Voice &amp; Communication Analysis </a:t>
            </a:r>
          </a:p>
          <a:p>
            <a:pPr>
              <a:buFont typeface="Arial" panose="020B0604020202020204" pitchFamily="34" charset="0"/>
              <a:buChar char="•"/>
            </a:pPr>
            <a:r>
              <a:rPr lang="en-GB" dirty="0"/>
              <a:t>Body Language Analysis </a:t>
            </a:r>
          </a:p>
          <a:p>
            <a:pPr>
              <a:buFont typeface="Arial" panose="020B0604020202020204" pitchFamily="34" charset="0"/>
              <a:buChar char="•"/>
            </a:pPr>
            <a:r>
              <a:rPr lang="en-GB" dirty="0"/>
              <a:t>Company-Specific Interview Preparation </a:t>
            </a:r>
          </a:p>
          <a:p>
            <a:pPr>
              <a:buFont typeface="Arial" panose="020B0604020202020204" pitchFamily="34" charset="0"/>
              <a:buChar char="•"/>
            </a:pPr>
            <a:r>
              <a:rPr lang="en-GB" dirty="0"/>
              <a:t>AI Coding Interview Module </a:t>
            </a:r>
          </a:p>
          <a:p>
            <a:pPr>
              <a:buFont typeface="Arial" panose="020B0604020202020204" pitchFamily="34" charset="0"/>
              <a:buChar char="•"/>
            </a:pPr>
            <a:r>
              <a:rPr lang="en-GB" dirty="0"/>
              <a:t>Personalized Improvement Plans </a:t>
            </a:r>
          </a:p>
          <a:p>
            <a:pPr>
              <a:buFont typeface="Arial" panose="020B0604020202020204" pitchFamily="34" charset="0"/>
              <a:buChar char="•"/>
            </a:pPr>
            <a:r>
              <a:rPr lang="en-GB" dirty="0"/>
              <a:t>Advanced Performance Analytics </a:t>
            </a:r>
          </a:p>
          <a:p>
            <a:pPr>
              <a:buFont typeface="Arial" panose="020B0604020202020204" pitchFamily="34" charset="0"/>
              <a:buChar char="•"/>
            </a:pPr>
            <a:r>
              <a:rPr lang="en-GB" dirty="0"/>
              <a:t>Multilingual Interview Support </a:t>
            </a:r>
          </a:p>
          <a:p>
            <a:pPr>
              <a:buFont typeface="Arial" panose="020B0604020202020204" pitchFamily="34" charset="0"/>
              <a:buChar char="•"/>
            </a:pPr>
            <a:r>
              <a:rPr lang="en-GB" dirty="0"/>
              <a:t>College &amp; Recruitment Integration</a:t>
            </a:r>
          </a:p>
        </p:txBody>
      </p:sp>
    </p:spTree>
    <p:extLst>
      <p:ext uri="{BB962C8B-B14F-4D97-AF65-F5344CB8AC3E}">
        <p14:creationId xmlns:p14="http://schemas.microsoft.com/office/powerpoint/2010/main" val="1749009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8259</TotalTime>
  <Words>1253</Words>
  <Application>Microsoft Office PowerPoint</Application>
  <PresentationFormat>Widescreen</PresentationFormat>
  <Paragraphs>165</Paragraphs>
  <Slides>13</Slides>
  <Notes>9</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Calibri</vt:lpstr>
      <vt:lpstr>Calibri Light</vt:lpstr>
      <vt:lpstr>Office Theme</vt:lpstr>
      <vt:lpstr>Custom Design</vt:lpstr>
      <vt:lpstr> 1st  REVIEW  INTERVIEW PRACTICE PLATFORM WITH AI FEEDBACK </vt:lpstr>
      <vt:lpstr>ABSTRACT</vt:lpstr>
      <vt:lpstr>INTRODUCTION</vt:lpstr>
      <vt:lpstr>EXISTING SYSTEM</vt:lpstr>
      <vt:lpstr>PROBLEM</vt:lpstr>
      <vt:lpstr>SOLUTION(Contribution)</vt:lpstr>
      <vt:lpstr>Objectives </vt:lpstr>
      <vt:lpstr>Modules</vt:lpstr>
      <vt:lpstr>PowerPoint Presentation</vt:lpstr>
      <vt:lpstr>SOFTWARE REQUIREMENTS </vt:lpstr>
      <vt:lpstr>PowerPoint Presentation</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miriyalayashwantraj@gmail.com</cp:lastModifiedBy>
  <cp:revision>94</cp:revision>
  <dcterms:created xsi:type="dcterms:W3CDTF">2022-05-20T10:20:31Z</dcterms:created>
  <dcterms:modified xsi:type="dcterms:W3CDTF">2026-08-20T07:05:23Z</dcterms:modified>
</cp:coreProperties>
</file>