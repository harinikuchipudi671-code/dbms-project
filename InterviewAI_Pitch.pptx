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8f168844-84a1-f0c1-3b70-5acc5379cac4}">
          <p14:sldIdLst>
            <p14:sldId id="257"/>
          </p14:sldIdLst>
        </p14:section>
        <p14:section name="Solution" id="{3aa060db-ff1d-c315-146e-46ab72a484ef}">
          <p14:sldIdLst>
            <p14:sldId id="258"/>
            <p14:sldId id="259"/>
          </p14:sldIdLst>
        </p14:section>
        <p14:section name="Product" id="{7157af01-a7c6-2cc1-9595-3d8f99986d9b}">
          <p14:sldIdLst>
            <p14:sldId id="260"/>
            <p14:sldId id="261"/>
            <p14:sldId id="262"/>
            <p14:sldId id="263"/>
          </p14:sldIdLst>
        </p14:section>
        <p14:section name="Technology" id="{55e1c3cd-e1cc-5bef-bad2-c44734aac2f2}">
          <p14:sldIdLst>
            <p14:sldId id="264"/>
          </p14:sldIdLst>
        </p14:section>
        <p14:section name="Impact" id="{49cf283d-1b00-860b-cd49-0c2e6500f779}">
          <p14:sldIdLst>
            <p14:sldId id="265"/>
            <p14:sldId id="266"/>
            <p14:sldId id="267"/>
          </p14:sldIdLst>
        </p14:section>
        <p14:section name="Default-1" id="{e106b162-5073-4e9f-229b-c3eb60aed78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5F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1F5F9"/>
                </a:solidFill>
                <a:latin typeface="+mn-lt"/>
              </a:rPr>
              <a:t>Sample scorecard (illustrative data)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Communication</c:v>
                  </c:pt>
                  <c:pt idx="1">
                    <c:v>Technical depth</c:v>
                  </c:pt>
                  <c:pt idx="2">
                    <c:v>Problem solving</c:v>
                  </c:pt>
                  <c:pt idx="3">
                    <c:v>Structure</c:v>
                  </c:pt>
                  <c:pt idx="4">
                    <c:v>Confidence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74</c:v>
                </c:pt>
                <c:pt idx="2">
                  <c:v>78</c:v>
                </c:pt>
                <c:pt idx="3">
                  <c:v>66</c:v>
                </c:pt>
                <c:pt idx="4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5F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1F5F9"/>
                </a:solidFill>
                <a:latin typeface="+mn-lt"/>
              </a:rPr>
              <a:t>Sample score trend across sessions (illustrative data)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score</c:v>
                </c:pt>
              </c:strCache>
            </c:strRef>
          </c:tx>
          <c:spPr>
            <a:solidFill>
              <a:srgbClr val="22D3EE"/>
            </a:solidFill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63</c:v>
                </c:pt>
                <c:pt idx="2">
                  <c:v>67</c:v>
                </c:pt>
                <c:pt idx="3">
                  <c:v>71</c:v>
                </c:pt>
                <c:pt idx="4">
                  <c:v>76</c:v>
                </c:pt>
                <c:pt idx="5">
                  <c:v>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12700" cap="flat">
              <a:solidFill>
                <a:srgbClr val="151B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InterviewAI gives every candidate a realistic, voice-based interview and a hiring-grade scorecard, on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access, consistency, realism and measurement. These four gaps are exactly what InterviewAI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experience: a question appears, the candidate speaks, and the transcript streams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loop closes at the dashboard, which feeds the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specificity is what separates this from generic interview chatbots. Tracks can be extended easily.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voice: most prep tools are text-only, but real interviews are spoken.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Scores are benchmarked against top-tier hiring standards. Chart shows sample data for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turns one-off practice into a measurable improvement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brief; judges care more about impact. Adapt the layer names to your exact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column that is Yes across the board is InterviewAI.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the national narrative: democratising access to interview coaching.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items beyond 'Now' are proposed plans. Adjust to what your team actually intends.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live demo: pick a role, answer one question by voice, show the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InterviewAI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 violet"/>
          <p:cNvSpPr/>
          <p:nvPr/>
        </p:nvSpPr>
        <p:spPr>
          <a:xfrm>
            <a:off x="5760720" y="-1097280"/>
            <a:ext cx="4754880" cy="47548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Glow cyan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4" name="Mic icon circle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ic icon" descr="M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800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InterviewAI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60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mock interviews that score you like a top-tier hiring panel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role tracks  •  Live voice interviews  •  Granular scorecards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National-Level Innovation Showcase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Interview prep is broken today</a:t>
            </a:r>
            <a:endParaRPr lang="en-US" sz="32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37160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Problem icon 1 circle"/>
          <p:cNvSpPr/>
          <p:nvPr/>
        </p:nvSpPr>
        <p:spPr>
          <a:xfrm>
            <a:off x="685800" y="16002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Problem icon 1" descr="Problem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774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&amp; scarce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0175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mock interviews depend on mentors or paid coaches that most students can't access.</a:t>
            </a:r>
            <a:endParaRPr lang="en-US" sz="1300" dirty="0"/>
          </a:p>
        </p:txBody>
      </p:sp>
      <p:sp>
        <p:nvSpPr>
          <p:cNvPr id="8" name="Problem card 2"/>
          <p:cNvSpPr/>
          <p:nvPr/>
        </p:nvSpPr>
        <p:spPr>
          <a:xfrm>
            <a:off x="2560320" y="137160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Problem icon 2 circle"/>
          <p:cNvSpPr/>
          <p:nvPr/>
        </p:nvSpPr>
        <p:spPr>
          <a:xfrm>
            <a:off x="2788920" y="16002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Problem icon 2" descr="Problem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510" y="17487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23774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feedback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30175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practice gives vague, subjective feedback with no standard to measure against.</a:t>
            </a:r>
            <a:endParaRPr lang="en-US" sz="1300" dirty="0"/>
          </a:p>
        </p:txBody>
      </p:sp>
      <p:sp>
        <p:nvSpPr>
          <p:cNvPr id="13" name="Problem card 3"/>
          <p:cNvSpPr/>
          <p:nvPr/>
        </p:nvSpPr>
        <p:spPr>
          <a:xfrm>
            <a:off x="4663440" y="137160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Problem icon 3 circle"/>
          <p:cNvSpPr/>
          <p:nvPr/>
        </p:nvSpPr>
        <p:spPr>
          <a:xfrm>
            <a:off x="4892040" y="160020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Problem icon 3" descr="Problem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630" y="17487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23774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question banks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30175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answers isn't speaking them. Nothing simulates real pressure or follow-ups.</a:t>
            </a:r>
            <a:endParaRPr lang="en-US" sz="1300" dirty="0"/>
          </a:p>
        </p:txBody>
      </p:sp>
      <p:sp>
        <p:nvSpPr>
          <p:cNvPr id="18" name="Problem card 4"/>
          <p:cNvSpPr/>
          <p:nvPr/>
        </p:nvSpPr>
        <p:spPr>
          <a:xfrm>
            <a:off x="6766560" y="137160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Problem icon 4 circle"/>
          <p:cNvSpPr/>
          <p:nvPr/>
        </p:nvSpPr>
        <p:spPr>
          <a:xfrm>
            <a:off x="6995160" y="16002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Problem icon 4" descr="Problem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0" y="174879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23774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track growth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301752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can't see which skills are improving, so practice stays unfocused.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Practice, get scored, improve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InterviewAI is a single-page web app that runs a live, voice-driven interview for your target role, then evaluates every answer against top-tier hiring standards.</a:t>
            </a:r>
            <a:endParaRPr lang="en-US" sz="1600" dirty="0"/>
          </a:p>
        </p:txBody>
      </p:sp>
      <p:sp>
        <p:nvSpPr>
          <p:cNvPr id="4" name="Benefit icon 1 circle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enefit icon 1" descr="Benefi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2930652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834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Role-specific, not generic</a:t>
            </a:r>
            <a:endParaRPr lang="en-US" sz="1500" dirty="0"/>
          </a:p>
        </p:txBody>
      </p:sp>
      <p:sp>
        <p:nvSpPr>
          <p:cNvPr id="7" name="Benefit icon 2 circle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Benefit icon 2" descr="Benefi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3479292"/>
            <a:ext cx="192024" cy="192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33832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answers, like the real thing</a:t>
            </a:r>
            <a:endParaRPr lang="en-US" sz="1500" dirty="0"/>
          </a:p>
        </p:txBody>
      </p:sp>
      <p:sp>
        <p:nvSpPr>
          <p:cNvPr id="10" name="Benefit icon 3 circle"/>
          <p:cNvSpPr/>
          <p:nvPr/>
        </p:nvSpPr>
        <p:spPr>
          <a:xfrm>
            <a:off x="457200" y="39319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Benefit icon 3" descr="Benefi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4027932"/>
            <a:ext cx="192024" cy="1920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5840" y="3931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granular criteria</a:t>
            </a:r>
            <a:endParaRPr lang="en-US" sz="1500" dirty="0"/>
          </a:p>
        </p:txBody>
      </p:sp>
      <p:sp>
        <p:nvSpPr>
          <p:cNvPr id="13" name="Mock interview window"/>
          <p:cNvSpPr/>
          <p:nvPr/>
        </p:nvSpPr>
        <p:spPr>
          <a:xfrm>
            <a:off x="4846320" y="1280160"/>
            <a:ext cx="38404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14" name="dot1"/>
          <p:cNvSpPr/>
          <p:nvPr/>
        </p:nvSpPr>
        <p:spPr>
          <a:xfrm>
            <a:off x="5029200" y="1444752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dot2"/>
          <p:cNvSpPr/>
          <p:nvPr/>
        </p:nvSpPr>
        <p:spPr>
          <a:xfrm>
            <a:off x="5230368" y="1444752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dot3"/>
          <p:cNvSpPr/>
          <p:nvPr/>
        </p:nvSpPr>
        <p:spPr>
          <a:xfrm>
            <a:off x="5431536" y="144475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AI question bubble"/>
          <p:cNvSpPr/>
          <p:nvPr/>
        </p:nvSpPr>
        <p:spPr>
          <a:xfrm>
            <a:off x="5029200" y="1828800"/>
            <a:ext cx="3474720" cy="868680"/>
          </a:xfrm>
          <a:prstGeom prst="roundRect">
            <a:avLst>
              <a:gd name="adj" fmla="val 10526"/>
            </a:avLst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516636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Interviewer: Walk me through a time you scaled a system under load.</a:t>
            </a:r>
            <a:endParaRPr lang="en-US" sz="1300" dirty="0"/>
          </a:p>
        </p:txBody>
      </p:sp>
      <p:sp>
        <p:nvSpPr>
          <p:cNvPr id="19" name="Live transcript bubble"/>
          <p:cNvSpPr/>
          <p:nvPr/>
        </p:nvSpPr>
        <p:spPr>
          <a:xfrm>
            <a:off x="5029200" y="2834640"/>
            <a:ext cx="34747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166360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(live transcript): In my last project we moved to a queue-based design to handle spikes…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Recording   00:42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works: five simple steps</a:t>
            </a:r>
            <a:endParaRPr lang="en-US" sz="3200" dirty="0"/>
          </a:p>
        </p:txBody>
      </p:sp>
      <p:sp>
        <p:nvSpPr>
          <p:cNvPr id="3" name="Process connector"/>
          <p:cNvSpPr/>
          <p:nvPr/>
        </p:nvSpPr>
        <p:spPr>
          <a:xfrm>
            <a:off x="1005840" y="2240280"/>
            <a:ext cx="7132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4" name="Step icon 1 circle"/>
          <p:cNvSpPr/>
          <p:nvPr/>
        </p:nvSpPr>
        <p:spPr>
          <a:xfrm>
            <a:off x="64008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828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role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8288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10+ tracks</a:t>
            </a:r>
            <a:endParaRPr lang="en-US" sz="1300" dirty="0"/>
          </a:p>
        </p:txBody>
      </p:sp>
      <p:sp>
        <p:nvSpPr>
          <p:cNvPr id="9" name="Step icon 2 circle"/>
          <p:cNvSpPr/>
          <p:nvPr/>
        </p:nvSpPr>
        <p:spPr>
          <a:xfrm>
            <a:off x="2423160" y="1874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0574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60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9659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96596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session</a:t>
            </a:r>
            <a:endParaRPr lang="en-US" sz="1300" dirty="0"/>
          </a:p>
        </p:txBody>
      </p:sp>
      <p:sp>
        <p:nvSpPr>
          <p:cNvPr id="14" name="Step icon 3 circle"/>
          <p:cNvSpPr/>
          <p:nvPr/>
        </p:nvSpPr>
        <p:spPr>
          <a:xfrm>
            <a:off x="4206240" y="18745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574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3891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74904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live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74904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dynamic questions</a:t>
            </a:r>
            <a:endParaRPr lang="en-US" sz="1300" dirty="0"/>
          </a:p>
        </p:txBody>
      </p:sp>
      <p:sp>
        <p:nvSpPr>
          <p:cNvPr id="19" name="Step icon 4 circle"/>
          <p:cNvSpPr/>
          <p:nvPr/>
        </p:nvSpPr>
        <p:spPr>
          <a:xfrm>
            <a:off x="5989320" y="18745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0574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172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scorecard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53212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feedback</a:t>
            </a:r>
            <a:endParaRPr lang="en-US" sz="1300" dirty="0"/>
          </a:p>
        </p:txBody>
      </p:sp>
      <p:sp>
        <p:nvSpPr>
          <p:cNvPr id="24" name="Step icon 5 circle"/>
          <p:cNvSpPr/>
          <p:nvPr/>
        </p:nvSpPr>
        <p:spPr>
          <a:xfrm>
            <a:off x="7772400" y="18745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Step icon 5" descr="Step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05740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9552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3152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10+ role tracks built for real hiring paths</a:t>
            </a:r>
            <a:endParaRPr lang="en-US" sz="3200" dirty="0"/>
          </a:p>
        </p:txBody>
      </p:sp>
      <p:sp>
        <p:nvSpPr>
          <p:cNvPr id="3" name="Role card 1"/>
          <p:cNvSpPr/>
          <p:nvPr/>
        </p:nvSpPr>
        <p:spPr>
          <a:xfrm>
            <a:off x="457200" y="137160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Role icon 1 circle"/>
          <p:cNvSpPr/>
          <p:nvPr/>
        </p:nvSpPr>
        <p:spPr>
          <a:xfrm>
            <a:off x="96012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le icon 1" descr="Rol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6802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300" dirty="0"/>
          </a:p>
        </p:txBody>
      </p:sp>
      <p:sp>
        <p:nvSpPr>
          <p:cNvPr id="7" name="Role card 2"/>
          <p:cNvSpPr/>
          <p:nvPr/>
        </p:nvSpPr>
        <p:spPr>
          <a:xfrm>
            <a:off x="2103120" y="137160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Role icon 2 circle"/>
          <p:cNvSpPr/>
          <p:nvPr/>
        </p:nvSpPr>
        <p:spPr>
          <a:xfrm>
            <a:off x="2606040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le icon 2" descr="Rol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70" y="168021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4884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11" name="Role card 3"/>
          <p:cNvSpPr/>
          <p:nvPr/>
        </p:nvSpPr>
        <p:spPr>
          <a:xfrm>
            <a:off x="3749040" y="137160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2" name="Role icon 3 circle"/>
          <p:cNvSpPr/>
          <p:nvPr/>
        </p:nvSpPr>
        <p:spPr>
          <a:xfrm>
            <a:off x="4251960" y="15544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Role icon 3" descr="Rol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690" y="168021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9476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300" dirty="0"/>
          </a:p>
        </p:txBody>
      </p:sp>
      <p:sp>
        <p:nvSpPr>
          <p:cNvPr id="15" name="Role card 4"/>
          <p:cNvSpPr/>
          <p:nvPr/>
        </p:nvSpPr>
        <p:spPr>
          <a:xfrm>
            <a:off x="5394960" y="137160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Role icon 4 circle"/>
          <p:cNvSpPr/>
          <p:nvPr/>
        </p:nvSpPr>
        <p:spPr>
          <a:xfrm>
            <a:off x="5897880" y="15544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Role icon 4" descr="Rol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168021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300" dirty="0"/>
          </a:p>
        </p:txBody>
      </p:sp>
      <p:sp>
        <p:nvSpPr>
          <p:cNvPr id="19" name="Role card 5"/>
          <p:cNvSpPr/>
          <p:nvPr/>
        </p:nvSpPr>
        <p:spPr>
          <a:xfrm>
            <a:off x="7040880" y="137160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0" name="Role icon 5 circle"/>
          <p:cNvSpPr/>
          <p:nvPr/>
        </p:nvSpPr>
        <p:spPr>
          <a:xfrm>
            <a:off x="7543800" y="15544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Role icon 5" descr="Role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530" y="168021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8660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300" dirty="0"/>
          </a:p>
        </p:txBody>
      </p:sp>
      <p:sp>
        <p:nvSpPr>
          <p:cNvPr id="23" name="Role card 6"/>
          <p:cNvSpPr/>
          <p:nvPr/>
        </p:nvSpPr>
        <p:spPr>
          <a:xfrm>
            <a:off x="457200" y="292608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4" name="Role icon 6 circle"/>
          <p:cNvSpPr/>
          <p:nvPr/>
        </p:nvSpPr>
        <p:spPr>
          <a:xfrm>
            <a:off x="960120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Role icon 6" descr="Role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" y="323469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02920" y="3749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300" dirty="0"/>
          </a:p>
        </p:txBody>
      </p:sp>
      <p:sp>
        <p:nvSpPr>
          <p:cNvPr id="27" name="Role card 7"/>
          <p:cNvSpPr/>
          <p:nvPr/>
        </p:nvSpPr>
        <p:spPr>
          <a:xfrm>
            <a:off x="2103120" y="292608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8" name="Role icon 7 circle"/>
          <p:cNvSpPr/>
          <p:nvPr/>
        </p:nvSpPr>
        <p:spPr>
          <a:xfrm>
            <a:off x="2606040" y="3108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Role icon 7" descr="Role icon 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1770" y="323469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148840" y="3749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31" name="Role card 8"/>
          <p:cNvSpPr/>
          <p:nvPr/>
        </p:nvSpPr>
        <p:spPr>
          <a:xfrm>
            <a:off x="3749040" y="292608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2" name="Role icon 8 circle"/>
          <p:cNvSpPr/>
          <p:nvPr/>
        </p:nvSpPr>
        <p:spPr>
          <a:xfrm>
            <a:off x="4251960" y="31089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3" name="Role icon 8" descr="Role icon 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7690" y="3234690"/>
            <a:ext cx="251460" cy="2514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3794760" y="3749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35" name="Role card 9"/>
          <p:cNvSpPr/>
          <p:nvPr/>
        </p:nvSpPr>
        <p:spPr>
          <a:xfrm>
            <a:off x="5394960" y="292608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36" name="Role icon 9 circle"/>
          <p:cNvSpPr/>
          <p:nvPr/>
        </p:nvSpPr>
        <p:spPr>
          <a:xfrm>
            <a:off x="5897880" y="31089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7" name="Role icon 9" descr="Role icon 9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3610" y="3234690"/>
            <a:ext cx="251460" cy="25146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5440680" y="3749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300" dirty="0"/>
          </a:p>
        </p:txBody>
      </p:sp>
      <p:sp>
        <p:nvSpPr>
          <p:cNvPr id="39" name="Role card 10"/>
          <p:cNvSpPr/>
          <p:nvPr/>
        </p:nvSpPr>
        <p:spPr>
          <a:xfrm>
            <a:off x="7040880" y="292608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0" name="Role icon 10 circle"/>
          <p:cNvSpPr/>
          <p:nvPr/>
        </p:nvSpPr>
        <p:spPr>
          <a:xfrm>
            <a:off x="7543800" y="310896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1" name="Role icon 10" descr="Role icon 10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9530" y="3234690"/>
            <a:ext cx="251460" cy="25146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086600" y="3749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457200" y="45262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tracks shown. Each track tailors questions, depth and evaluation to the role.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live interview that adapts to you</a:t>
            </a:r>
            <a:endParaRPr lang="en-US" sz="32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Feature icon 1 circle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Feature icon 1" descr="Featur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transcription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naturally. Your words appear live, building comfort with verbal answers.</a:t>
            </a:r>
            <a:endParaRPr lang="en-US" sz="1300" dirty="0"/>
          </a:p>
        </p:txBody>
      </p:sp>
      <p:sp>
        <p:nvSpPr>
          <p:cNvPr id="8" name="Feature card 2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Feature icon 2 circle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icon 2" descr="Featur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questions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respond to what you actually said, not a fixed script.</a:t>
            </a:r>
            <a:endParaRPr lang="en-US" sz="1300" dirty="0"/>
          </a:p>
        </p:txBody>
      </p:sp>
      <p:sp>
        <p:nvSpPr>
          <p:cNvPr id="13" name="Feature card 3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Feature icon 3 circle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Feature icon 3" descr="Featur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3147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sessions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role and set up the session to match your goals.</a:t>
            </a:r>
            <a:endParaRPr lang="en-US" sz="1300" dirty="0"/>
          </a:p>
        </p:txBody>
      </p:sp>
      <p:sp>
        <p:nvSpPr>
          <p:cNvPr id="18" name="Feature card 4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Feature icon 4 circle"/>
          <p:cNvSpPr/>
          <p:nvPr/>
        </p:nvSpPr>
        <p:spPr>
          <a:xfrm>
            <a:off x="4892040" y="31546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Feature icon 4" descr="Featur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147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Distraction-free dark UI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single-page interface that feels like a real interview room.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granular scorecard, not vague praise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corecard detail card"/>
          <p:cNvSpPr/>
          <p:nvPr/>
        </p:nvSpPr>
        <p:spPr>
          <a:xfrm>
            <a:off x="5669280" y="1371600"/>
            <a:ext cx="3017520" cy="31089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89788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evaluated for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9659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Clarity and communication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Technical accuracy and depth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Structured thinking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Strengths to keep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Specific gaps to fix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dashboard that shows real progress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ashboard card 1"/>
          <p:cNvSpPr/>
          <p:nvPr/>
        </p:nvSpPr>
        <p:spPr>
          <a:xfrm>
            <a:off x="5852160" y="137160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5" name="Dashboard icon 1 circle"/>
          <p:cNvSpPr/>
          <p:nvPr/>
        </p:nvSpPr>
        <p:spPr>
          <a:xfrm>
            <a:off x="6035040" y="1572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ashboard icon 1" descr="Dashboard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340" y="168706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75120" y="13716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</a:t>
            </a:r>
            <a:endParaRPr lang="en-US" sz="1600" dirty="0"/>
          </a:p>
        </p:txBody>
      </p:sp>
      <p:sp>
        <p:nvSpPr>
          <p:cNvPr id="8" name="Dashboard card 2"/>
          <p:cNvSpPr/>
          <p:nvPr/>
        </p:nvSpPr>
        <p:spPr>
          <a:xfrm>
            <a:off x="5852160" y="242316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9" name="Dashboard icon 2 circle"/>
          <p:cNvSpPr/>
          <p:nvPr/>
        </p:nvSpPr>
        <p:spPr>
          <a:xfrm>
            <a:off x="6035040" y="26243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Dashboard icon 2" descr="Dashboard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273862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675120" y="2423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trends</a:t>
            </a:r>
            <a:endParaRPr lang="en-US" sz="1600" dirty="0"/>
          </a:p>
        </p:txBody>
      </p:sp>
      <p:sp>
        <p:nvSpPr>
          <p:cNvPr id="12" name="Dashboard card 3"/>
          <p:cNvSpPr/>
          <p:nvPr/>
        </p:nvSpPr>
        <p:spPr>
          <a:xfrm>
            <a:off x="5852160" y="347472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Dashboard icon 3 circle"/>
          <p:cNvSpPr/>
          <p:nvPr/>
        </p:nvSpPr>
        <p:spPr>
          <a:xfrm>
            <a:off x="6035040" y="367588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Dashboard icon 3" descr="Dashboard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3790188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675120" y="3474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Architecture: modern and scalable</a:t>
            </a:r>
            <a:endParaRPr lang="en-US" sz="3200" dirty="0"/>
          </a:p>
        </p:txBody>
      </p:sp>
      <p:sp>
        <p:nvSpPr>
          <p:cNvPr id="3" name="Layer card 1"/>
          <p:cNvSpPr/>
          <p:nvPr/>
        </p:nvSpPr>
        <p:spPr>
          <a:xfrm>
            <a:off x="457200" y="13258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4" name="Layer icon 1 circle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Layer icon 1" descr="Layer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4990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25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3258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single-page, dark-themed UI for setup, interview and dashboard</a:t>
            </a:r>
            <a:endParaRPr lang="en-US" sz="1400" dirty="0"/>
          </a:p>
        </p:txBody>
      </p:sp>
      <p:sp>
        <p:nvSpPr>
          <p:cNvPr id="8" name="Layer card 2"/>
          <p:cNvSpPr/>
          <p:nvPr/>
        </p:nvSpPr>
        <p:spPr>
          <a:xfrm>
            <a:off x="457200" y="2130552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Layer icon 2 circle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Layer icon 2" descr="Layer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3545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13055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layer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21305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captures answers and streams the transcript live</a:t>
            </a:r>
            <a:endParaRPr lang="en-US" sz="1400" dirty="0"/>
          </a:p>
        </p:txBody>
      </p:sp>
      <p:sp>
        <p:nvSpPr>
          <p:cNvPr id="13" name="Layer card 3"/>
          <p:cNvSpPr/>
          <p:nvPr/>
        </p:nvSpPr>
        <p:spPr>
          <a:xfrm>
            <a:off x="457200" y="2935224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4" name="Layer icon 3 circle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Layer icon 3" descr="Layer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15925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93522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383280" y="293522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dynamic questions and scores answers against hiring rubrics</a:t>
            </a:r>
            <a:endParaRPr lang="en-US" sz="1400" dirty="0"/>
          </a:p>
        </p:txBody>
      </p:sp>
      <p:sp>
        <p:nvSpPr>
          <p:cNvPr id="18" name="Layer card 4"/>
          <p:cNvSpPr/>
          <p:nvPr/>
        </p:nvSpPr>
        <p:spPr>
          <a:xfrm>
            <a:off x="457200" y="3739896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9" name="Layer icon 4 circle"/>
          <p:cNvSpPr/>
          <p:nvPr/>
        </p:nvSpPr>
        <p:spPr>
          <a:xfrm>
            <a:off x="640080" y="38496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Layer icon 4" descr="Layer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963924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73989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3383280" y="373989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sessions and scores to power the candidate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InterviewAI stands apart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banks / videos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mock interviews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Voice-based practice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follow-ups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scoring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24/7, low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tracking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benefits, and why it matters</a:t>
            </a:r>
            <a:endParaRPr lang="en-US" sz="3200" dirty="0"/>
          </a:p>
        </p:txBody>
      </p:sp>
      <p:sp>
        <p:nvSpPr>
          <p:cNvPr id="3" name="Audience card 1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Audience icon 1 circle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udience icon 1" descr="Audienc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freshers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for campus placements with no coach needed.</a:t>
            </a:r>
            <a:endParaRPr lang="en-US" sz="1300" dirty="0"/>
          </a:p>
        </p:txBody>
      </p:sp>
      <p:sp>
        <p:nvSpPr>
          <p:cNvPr id="8" name="Audience card 2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Audience icon 2 circle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udience icon 2" descr="Audienc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confidence in a new role's interview style.</a:t>
            </a:r>
            <a:endParaRPr lang="en-US" sz="1300" dirty="0"/>
          </a:p>
        </p:txBody>
      </p:sp>
      <p:sp>
        <p:nvSpPr>
          <p:cNvPr id="13" name="Audience card 3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Audience icon 3 circle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Audience icon 3" descr="Audienc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3147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&amp; placement cells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every student equal, scalable prep.</a:t>
            </a:r>
            <a:endParaRPr lang="en-US" sz="1300" dirty="0"/>
          </a:p>
        </p:txBody>
      </p:sp>
      <p:sp>
        <p:nvSpPr>
          <p:cNvPr id="18" name="Audience card 4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Audience icon 4 circle"/>
          <p:cNvSpPr/>
          <p:nvPr/>
        </p:nvSpPr>
        <p:spPr>
          <a:xfrm>
            <a:off x="4892040" y="31546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Audience icon 4" descr="Audienc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147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city talent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geography and cost barrier to quality practice.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Roadmap: where we go next</a:t>
            </a:r>
            <a:endParaRPr lang="en-US" sz="3200" dirty="0"/>
          </a:p>
        </p:txBody>
      </p:sp>
      <p:sp>
        <p:nvSpPr>
          <p:cNvPr id="3" name="Roadmap card 1"/>
          <p:cNvSpPr/>
          <p:nvPr/>
        </p:nvSpPr>
        <p:spPr>
          <a:xfrm>
            <a:off x="457200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Phase pill 1"/>
          <p:cNvSpPr/>
          <p:nvPr/>
        </p:nvSpPr>
        <p:spPr>
          <a:xfrm>
            <a:off x="685800" y="169164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tracks, live voice interview, scorecard, dashboard</a:t>
            </a:r>
            <a:endParaRPr lang="en-US" sz="1400" dirty="0"/>
          </a:p>
        </p:txBody>
      </p:sp>
      <p:sp>
        <p:nvSpPr>
          <p:cNvPr id="8" name="Roadmap card 2"/>
          <p:cNvSpPr/>
          <p:nvPr/>
        </p:nvSpPr>
        <p:spPr>
          <a:xfrm>
            <a:off x="3291840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9" name="Phase pill 2"/>
          <p:cNvSpPr/>
          <p:nvPr/>
        </p:nvSpPr>
        <p:spPr>
          <a:xfrm>
            <a:off x="3520440" y="169164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691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insights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and pacing analysis, resume-aware questions</a:t>
            </a:r>
            <a:endParaRPr lang="en-US" sz="1400" dirty="0"/>
          </a:p>
        </p:txBody>
      </p:sp>
      <p:sp>
        <p:nvSpPr>
          <p:cNvPr id="13" name="Roadmap card 3"/>
          <p:cNvSpPr/>
          <p:nvPr/>
        </p:nvSpPr>
        <p:spPr>
          <a:xfrm>
            <a:off x="6126480" y="14630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Phase pill 3"/>
          <p:cNvSpPr/>
          <p:nvPr/>
        </p:nvSpPr>
        <p:spPr>
          <a:xfrm>
            <a:off x="6355080" y="169164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1691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reach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346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languages, college partnerships, recruiter mode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 violet"/>
          <p:cNvSpPr/>
          <p:nvPr/>
        </p:nvSpPr>
        <p:spPr>
          <a:xfrm>
            <a:off x="-1371600" y="2560320"/>
            <a:ext cx="5029200" cy="5029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Glow cyan"/>
          <p:cNvSpPr/>
          <p:nvPr/>
        </p:nvSpPr>
        <p:spPr>
          <a:xfrm>
            <a:off x="6400800" y="-1371600"/>
            <a:ext cx="3840480" cy="3840480"/>
          </a:xfrm>
          <a:prstGeom prst="ellipse">
            <a:avLst/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deserves a great interview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Practice. Get scored. Get hired.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live demo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viewAI Dark">
  <a:themeElements>
    <a:clrScheme name="InterviewAI Dark">
      <a:dk1>
        <a:srgbClr val="F1F5F9"/>
      </a:dk1>
      <a:lt1>
        <a:srgbClr val="0B0F1A"/>
      </a:lt1>
      <a:dk2>
        <a:srgbClr val="94A3B8"/>
      </a:dk2>
      <a:lt2>
        <a:srgbClr val="151B2E"/>
      </a:lt2>
      <a:accent1>
        <a:srgbClr val="7C5CFF"/>
      </a:accent1>
      <a:accent2>
        <a:srgbClr val="22D3EE"/>
      </a:accent2>
      <a:accent3>
        <a:srgbClr val="34D399"/>
      </a:accent3>
      <a:accent4>
        <a:srgbClr val="F59E0B"/>
      </a:accent4>
      <a:accent5>
        <a:srgbClr val="F472B6"/>
      </a:accent5>
      <a:accent6>
        <a:srgbClr val="60A5FA"/>
      </a:accent6>
      <a:hlink>
        <a:srgbClr val="22D3EE"/>
      </a:hlink>
      <a:folHlink>
        <a:srgbClr val="94A3B8"/>
      </a:folHlink>
    </a:clrScheme>
    <a:fontScheme name="InterviewAI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InterviewAI</dc:title>
  <dc:subject>PptxGenJS Presentation</dc:subject>
  <dc:creator>InterviewAI Team</dc:creator>
  <cp:lastModifiedBy>InterviewAI Team</cp:lastModifiedBy>
  <cp:revision>1</cp:revision>
  <dcterms:created xsi:type="dcterms:W3CDTF">2026-10-03T08:23:56Z</dcterms:created>
  <dcterms:modified xsi:type="dcterms:W3CDTF">2026-10-03T08:23:56Z</dcterms:modified>
</cp:coreProperties>
</file>